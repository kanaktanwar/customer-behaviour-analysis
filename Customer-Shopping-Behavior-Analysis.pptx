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latypi"/>
      <p:regular r:id="rId201314"/>
    </p:embeddedFont>
    <p:embeddedFont>
      <p:font typeface="Platypi Medium"/>
      <p:regular r:id="rId201315"/>
    </p:embeddedFont>
    <p:embeddedFont>
      <p:font typeface="Platypi Bold"/>
      <p:regular r:id="rId201316"/>
    </p:embeddedFont>
    <p:embeddedFont>
      <p:font typeface="Source Serif 4"/>
      <p:regular r:id="rId201317"/>
    </p:embeddedFont>
    <p:embeddedFont>
      <p:font typeface="Source Serif 4 Medium"/>
      <p:regular r:id="rId201318"/>
    </p:embeddedFont>
    <p:embeddedFont>
      <p:font typeface="Source Serif 4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Uncovering spending patterns,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to guide strategic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05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03636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3,900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96356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Purchases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213915" y="2103636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18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213915" y="296356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Columns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731320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37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661475" y="459124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1475" y="4999930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Review Rating only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13915" y="3731320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$59.76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213915" y="459124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Avg Purchase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551497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Features span demographics, purchase details, and shopping behavior.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24876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Preparation in Python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4201" y="2719388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47608" y="271353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Clean &amp; Standardize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847608" y="3122216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Imputed missing ratings, renamed columns to snake_case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4201" y="3808512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47608" y="3802658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847608" y="4211340"/>
            <a:ext cx="5682612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4201" y="4903986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47608" y="489813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Load to PostgreSQL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847608" y="5306814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Cleaned DataFrame exported for SQL analysis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Insight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than female customers.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736997"/>
          </a:xfrm>
          <a:prstGeom prst="roundRect">
            <a:avLst>
              <a:gd name="adj" fmla="val 3847"/>
            </a:avLst>
          </a:prstGeom>
          <a:solidFill>
            <a:srgbClr val="F3E3D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579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50101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 product: Blouse (171 orders)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Product Ratings &amp; Discount Sensitivity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64993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Most Discount-Dependent Products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1058" y="2858691"/>
            <a:ext cx="5315512" cy="5408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81987" y="2968823"/>
            <a:ext cx="5044453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Hat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381987" y="3171329"/>
            <a:ext cx="504445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50% discounted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1058" y="3449737"/>
            <a:ext cx="5315512" cy="5408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81987" y="3559870"/>
            <a:ext cx="5044453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Sneakers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6381987" y="3762375"/>
            <a:ext cx="504445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49.66% discounted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1058" y="4040783"/>
            <a:ext cx="5315512" cy="54084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81987" y="4150916"/>
            <a:ext cx="5044453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Coat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6381987" y="4353421"/>
            <a:ext cx="504445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49.07% discounted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Surprising Finding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73% of total revenue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despite near-identical average spend.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Avg spend: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$59.87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(No) vs.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$59.49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(Yes)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8053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Customer Segmentation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254647"/>
            <a:ext cx="3053877" cy="1108174"/>
          </a:xfrm>
          <a:prstGeom prst="roundRect">
            <a:avLst>
              <a:gd name="adj" fmla="val 2559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5422367" y="2443659"/>
            <a:ext cx="26758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Loyal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2367" y="2871391"/>
            <a:ext cx="2675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3,192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254647"/>
            <a:ext cx="3053976" cy="1108174"/>
          </a:xfrm>
          <a:prstGeom prst="roundRect">
            <a:avLst>
              <a:gd name="adj" fmla="val 2559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8665251" y="2443659"/>
            <a:ext cx="267596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Returning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65251" y="2871391"/>
            <a:ext cx="26759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625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3551833"/>
            <a:ext cx="6296860" cy="1108174"/>
          </a:xfrm>
          <a:prstGeom prst="roundRect">
            <a:avLst>
              <a:gd name="adj" fmla="val 2559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5422367" y="3740845"/>
            <a:ext cx="591884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New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2367" y="4168577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33360" y="487263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Only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2518 repeat buyers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are non-subscribers — opportunity to convert.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Takeaway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Young adults lead revenue, but spend is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remarkably even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across all age groups.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736997"/>
          </a:xfrm>
          <a:prstGeom prst="roundRect">
            <a:avLst>
              <a:gd name="adj" fmla="val 3847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579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50101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Avg age: 44 years (range 18–70)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4988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Power BI Dashboard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24001"/>
            <a:ext cx="378014" cy="3780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5723" y="238889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Metrics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275723" y="2797572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Avg Purchase $59.76 · Avg Rating 3.75 · 3.9K Customers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78014"/>
            <a:ext cx="378014" cy="3780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23" y="3542903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Interactive Filters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275723" y="3951585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Subscription, Gender, Category, Shipping Type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32027"/>
            <a:ext cx="378014" cy="3780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469691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Visual Charts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275723" y="5105598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Revenue by age, top categories, subscription split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57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Recommendations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85180"/>
            <a:ext cx="10868745" cy="903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738" y="159583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02918" y="1454845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Boost Subscriptions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402918" y="176212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Promote exclusive subscriber benefits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08820"/>
            <a:ext cx="10868745" cy="9036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738" y="261947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02918" y="247848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Loyalty Programs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02918" y="278576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Reward repeat buyers → Loyal segment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32460"/>
            <a:ext cx="10868745" cy="9036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738" y="364311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402918" y="350212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Review Discount Policy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402918" y="380940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Balance sales lift vs. margin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56100"/>
            <a:ext cx="10868745" cy="9036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738" y="466675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402918" y="452576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Product Positioning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402918" y="483304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Highlight top-rated, best-selling items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379740"/>
            <a:ext cx="10868745" cy="9036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8738" y="569039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1402918" y="554940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Targeted Marketing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402918" y="5856684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Focus on high-revenue age groups &amp; express-shipping users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2026-08-26T06:23:32Z</dcterms:created>
  <dcterms:modified xsi:type="dcterms:W3CDTF">2026-08-26T06:23:32Z</dcterms:modified>
</cp:coreProperties>
</file>